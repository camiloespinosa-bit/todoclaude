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</p:sldIdLst>
  <p:sldSz cy="5143500" cx="9144000"/>
  <p:notesSz cx="5143500" cy="9144000"/>
  <p:embeddedFontLst>
    <p:embeddedFont>
      <p:font typeface="Poppins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font" Target="fonts/Poppins-regular.fntdata"/><Relationship Id="rId59" Type="http://schemas.openxmlformats.org/officeDocument/2006/relationships/font" Target="fonts/Poppins-bold.fntdata"/><Relationship Id="rId60" Type="http://schemas.openxmlformats.org/officeDocument/2006/relationships/font" Target="fonts/Poppins-italic.fntdata"/><Relationship Id="rId61" Type="http://schemas.openxmlformats.org/officeDocument/2006/relationships/font" Target="fonts/Poppi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59f9c1e8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959f9c1e8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959f9c1e8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59f9c1e84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959f9c1e84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959f9c1e84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59f9c1e84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959f9c1e84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959f9c1e84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59f9c1e84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959f9c1e84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959f9c1e84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59f9c1e84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959f9c1e84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959f9c1e84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59f9c1e84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959f9c1e84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959f9c1e84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48640" y="7315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52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Gimnasio del Cerebro</a:t>
            </a:r>
            <a:endParaRPr i="0" sz="5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15544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Neurociencia aplicada para colegios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rPr>
              <a:t>Presentación para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33832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Colegio Divino Niño</a:t>
            </a:r>
            <a:endParaRPr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rPr>
              <a:t>Rionegro, Antioquia — 2026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Camilo Espinosa · Fundador y Director, Gimnasio del Cerebro</a:t>
            </a:r>
            <a:endParaRPr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7C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731520" y="457200"/>
            <a:ext cx="7680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Antes de hablar del Gimnasio del Cerebro,</a:t>
            </a:r>
            <a:endParaRPr i="0" sz="3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quiero que</a:t>
            </a:r>
            <a:endParaRPr i="0" sz="3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sientan algo.</a:t>
            </a:r>
            <a:endParaRPr i="0" sz="3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RETO #1: Flexibilidad Cognitiva</a:t>
            </a:r>
            <a:endParaRPr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500"/>
              <a:buFont typeface="Calibri"/>
              <a:buNone/>
            </a:pPr>
            <a:r>
              <a:rPr i="0" lang="en-US" sz="15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¿Qué tan rápido puede su cerebro cambiar de regla?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548640" y="1737360"/>
            <a:ext cx="8046720" cy="23774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Las reglas: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914400" y="2286000"/>
            <a:ext cx="7498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Voy a mostrar NÚMEROS en la pantalla.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REGLA A: Si el número es MAYOR que 5 → levanten la mano DERECHA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REGLA A: Si el número es MENOR o IGUAL a 5 → levanten la mano IZQUIERDA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Pero OJO: cuando la pantalla cambie de color,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4444"/>
                </a:solidFill>
                <a:latin typeface="Poppins"/>
                <a:ea typeface="Poppins"/>
                <a:cs typeface="Poppins"/>
                <a:sym typeface="Poppins"/>
              </a:rPr>
              <a:t>la regla se INVIERTE.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Esto entrena la misma función cerebral que un niño necesita para cambiar de materia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548640" y="1828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Mayor que 5 → DERECHA  |  Menor o igual → IZQUIERDA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548640" y="7315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0"/>
              <a:buFont typeface="Trebuchet MS"/>
              <a:buNone/>
            </a:pPr>
            <a:r>
              <a:rPr b="1" i="0" lang="en-US" sz="160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548640" y="7315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0"/>
              <a:buFont typeface="Trebuchet MS"/>
              <a:buNone/>
            </a:pPr>
            <a:r>
              <a:rPr b="1" i="0" lang="en-US" sz="160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548640" y="7315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0"/>
              <a:buFont typeface="Trebuchet MS"/>
              <a:buNone/>
            </a:pPr>
            <a:r>
              <a:rPr b="1" i="0" lang="en-US" sz="160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548640" y="7315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0"/>
              <a:buFont typeface="Trebuchet MS"/>
              <a:buNone/>
            </a:pPr>
            <a:r>
              <a:rPr b="1" i="0" lang="en-US" sz="160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/>
        </p:nvSpPr>
        <p:spPr>
          <a:xfrm>
            <a:off x="548640" y="731520"/>
            <a:ext cx="80466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0"/>
              <a:buFont typeface="Trebuchet MS"/>
              <a:buNone/>
            </a:pPr>
            <a:r>
              <a:rPr b="1" lang="en-US" sz="16000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548640" y="731520"/>
            <a:ext cx="80466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0"/>
              <a:buFont typeface="Trebuchet MS"/>
              <a:buNone/>
            </a:pPr>
            <a:r>
              <a:rPr b="1" lang="en-US" sz="16000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F7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LA REGLA</a:t>
            </a:r>
            <a:endParaRPr i="0" sz="4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SE INVIERTE</a:t>
            </a:r>
            <a:endParaRPr i="0" sz="4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F7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/>
          <p:nvPr/>
        </p:nvSpPr>
        <p:spPr>
          <a:xfrm>
            <a:off x="548640" y="1828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REGLA INVERTIDA → Mayor que 5 → IZQUIERDA  |  Menor o igual → DERECHA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548640" y="7315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6000"/>
              <a:buFont typeface="Trebuchet MS"/>
              <a:buNone/>
            </a:pPr>
            <a:r>
              <a:rPr b="1" i="0" lang="en-US" sz="160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F7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548640" y="7315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6000"/>
              <a:buFont typeface="Trebuchet MS"/>
              <a:buNone/>
            </a:pPr>
            <a:r>
              <a:rPr b="1" i="0" lang="en-US" sz="160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F7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548640" y="7315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6000"/>
              <a:buFont typeface="Trebuchet MS"/>
              <a:buNone/>
            </a:pPr>
            <a:r>
              <a:rPr b="1" lang="en-US" sz="16000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F7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>
            <a:off x="548640" y="731520"/>
            <a:ext cx="80466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6000"/>
              <a:buFont typeface="Trebuchet MS"/>
              <a:buNone/>
            </a:pPr>
            <a:r>
              <a:rPr b="1" lang="en-US" sz="16000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F7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548640" y="731520"/>
            <a:ext cx="80466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6000"/>
              <a:buFont typeface="Trebuchet MS"/>
              <a:buNone/>
            </a:pPr>
            <a:r>
              <a:rPr b="1" lang="en-US" sz="16000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VOLVEMOS A</a:t>
            </a:r>
            <a:endParaRPr i="0" sz="4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LA REGLA ORIGINAL</a:t>
            </a:r>
            <a:endParaRPr i="0" sz="4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/>
          <p:nvPr/>
        </p:nvSpPr>
        <p:spPr>
          <a:xfrm>
            <a:off x="548640" y="1828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Mayor que 5 → DERECHA  |  Menor o igual → IZQUIERDA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548640" y="7315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0"/>
              <a:buFont typeface="Trebuchet MS"/>
              <a:buNone/>
            </a:pPr>
            <a:r>
              <a:rPr b="1" i="0" lang="en-US" sz="160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/>
          <p:nvPr/>
        </p:nvSpPr>
        <p:spPr>
          <a:xfrm>
            <a:off x="548640" y="1828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Mayor que 5 → DERECHA  |  Menor o igual → IZQUIERDA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548640" y="7315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0"/>
              <a:buFont typeface="Trebuchet MS"/>
              <a:buNone/>
            </a:pPr>
            <a:r>
              <a:rPr b="1" i="0" lang="en-US" sz="160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¿Qué les acaba de pasar?</a:t>
            </a:r>
            <a:endParaRPr i="0" sz="2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548640" y="1005840"/>
            <a:ext cx="3840480" cy="1463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731520" y="10972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Flexibilidad Cognitiva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731520" y="146304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La capacidad de cambiar entre reglas mentales cuando las condiciones cambian.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4754880" y="1005840"/>
            <a:ext cx="3840480" cy="1463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4937760" y="10972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En su colegio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4937760" y="146304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Un niño pasa de matemáticas a español a inglés en minutos. Cada materia tiene reglas diferentes. Sin flexibilidad cognitiva, se pierde.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Esta función ejecutiva se puede entrenar. A cualquier edad.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i="1" lang="en-US" sz="1000" u="none" cap="none" strike="noStrike">
                <a:solidFill>
                  <a:srgbClr val="AAAAAA"/>
                </a:solidFill>
                <a:latin typeface="Poppins"/>
                <a:ea typeface="Poppins"/>
                <a:cs typeface="Poppins"/>
                <a:sym typeface="Poppins"/>
              </a:rPr>
              <a:t>Diamond, A. (2013). Executive functions. Annual Review of Psychology, 64, 135-168.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RETO #2: Control Inhibitorio</a:t>
            </a:r>
            <a:endParaRPr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500"/>
              <a:buFont typeface="Calibri"/>
              <a:buNone/>
            </a:pPr>
            <a:r>
              <a:rPr i="0" lang="en-US" sz="15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¿Puede su cerebro frenar lo automático?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548640" y="1737360"/>
            <a:ext cx="8046720" cy="25603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22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Test de Stroop — 3 rondas, cada una más difícil: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22"/>
          <p:cNvSpPr/>
          <p:nvPr/>
        </p:nvSpPr>
        <p:spPr>
          <a:xfrm>
            <a:off x="914400" y="2286000"/>
            <a:ext cx="7498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RONDA 1:</a:t>
            </a:r>
            <a:r>
              <a:rPr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Digan el COLOR de la tinta, no la palabra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RONDA 2:</a:t>
            </a:r>
            <a:r>
              <a:rPr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MAYÚSCULA → digan COLOR | minúscula → digan PALABRA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4444"/>
                </a:solidFill>
                <a:latin typeface="Poppins"/>
                <a:ea typeface="Poppins"/>
                <a:cs typeface="Poppins"/>
                <a:sym typeface="Poppins"/>
              </a:rPr>
              <a:t>RONDA 3:</a:t>
            </a:r>
            <a:r>
              <a:rPr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Digan COLOR + APLAUDAN si la palabra es color cálido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rPr>
              <a:t>  (cálido = rojo, amarillo, naranja)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22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Entrena la capacidad de FRENAR respuestas automáticas — esencial para autorregulación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/>
          <p:nvPr/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RONDA 1</a:t>
            </a:r>
            <a:endParaRPr i="0" sz="5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Digan el COLOR, no la palabra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/>
          <p:nvPr/>
        </p:nvSpPr>
        <p:spPr>
          <a:xfrm>
            <a:off x="548640" y="2743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Digan el COLOR de la tinta, no lean la palabra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AZUL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VERDE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00CC00"/>
                </a:solidFill>
                <a:latin typeface="Poppins"/>
                <a:ea typeface="Poppins"/>
                <a:cs typeface="Poppins"/>
                <a:sym typeface="Poppins"/>
              </a:rPr>
              <a:t>ROJO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FF00FF"/>
                </a:solidFill>
                <a:latin typeface="Poppins"/>
                <a:ea typeface="Poppins"/>
                <a:cs typeface="Poppins"/>
                <a:sym typeface="Poppins"/>
              </a:rPr>
              <a:t>AMARILLO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8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FF8800"/>
                </a:solidFill>
                <a:latin typeface="Poppins"/>
                <a:ea typeface="Poppins"/>
                <a:cs typeface="Poppins"/>
                <a:sym typeface="Poppins"/>
              </a:rPr>
              <a:t>NEGRO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RONDA 2</a:t>
            </a:r>
            <a:endParaRPr i="0" sz="5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6" name="Google Shape;206;p29"/>
          <p:cNvSpPr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Ahora hay DOS reglas: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29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MAYÚSCULA → digan el COLOR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29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minúscula → digan la PALABRA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MAYÚSCULA → digan el COLOR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ROJO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minúscula → digan la PALABRA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2" name="Google Shape;222;p31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verde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00CC00"/>
                </a:solidFill>
                <a:latin typeface="Poppins"/>
                <a:ea typeface="Poppins"/>
                <a:cs typeface="Poppins"/>
                <a:sym typeface="Poppins"/>
              </a:rPr>
              <a:t>AMARILLO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A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FFAA00"/>
                </a:solidFill>
                <a:latin typeface="Poppins"/>
                <a:ea typeface="Poppins"/>
                <a:cs typeface="Poppins"/>
                <a:sym typeface="Poppins"/>
              </a:rPr>
              <a:t>az</a:t>
            </a:r>
            <a:r>
              <a:rPr b="1" lang="en-US" sz="9600">
                <a:solidFill>
                  <a:srgbClr val="FFAA00"/>
                </a:solidFill>
                <a:latin typeface="Poppins"/>
                <a:ea typeface="Poppins"/>
                <a:cs typeface="Poppins"/>
                <a:sym typeface="Poppins"/>
              </a:rPr>
              <a:t>ú</a:t>
            </a:r>
            <a:r>
              <a:rPr b="1" i="0" lang="en-US" sz="9600" u="none" cap="none" strike="noStrike">
                <a:solidFill>
                  <a:srgbClr val="FFAA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FF00FF"/>
                </a:solidFill>
                <a:latin typeface="Poppins"/>
                <a:ea typeface="Poppins"/>
                <a:cs typeface="Poppins"/>
                <a:sym typeface="Poppins"/>
              </a:rPr>
              <a:t>NEGRO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00CC00"/>
                </a:solidFill>
                <a:latin typeface="Poppins"/>
                <a:ea typeface="Poppins"/>
                <a:cs typeface="Poppins"/>
                <a:sym typeface="Poppins"/>
              </a:rPr>
              <a:t>rojo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"/>
          <p:cNvSpPr/>
          <p:nvPr/>
        </p:nvSpPr>
        <p:spPr>
          <a:xfrm>
            <a:off x="548640" y="914400"/>
            <a:ext cx="8046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9600"/>
              <a:buFont typeface="Trebuchet MS"/>
              <a:buNone/>
            </a:pPr>
            <a:r>
              <a:rPr b="1" lang="en-US" sz="9600">
                <a:solidFill>
                  <a:srgbClr val="FF4444"/>
                </a:solidFill>
                <a:latin typeface="Poppins"/>
                <a:ea typeface="Poppins"/>
                <a:cs typeface="Poppins"/>
                <a:sym typeface="Poppins"/>
              </a:rPr>
              <a:t>AMARILLO</a:t>
            </a:r>
            <a:endParaRPr i="0" sz="9600" u="none" cap="none" strike="noStrike">
              <a:solidFill>
                <a:srgbClr val="FF444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7"/>
          <p:cNvSpPr/>
          <p:nvPr/>
        </p:nvSpPr>
        <p:spPr>
          <a:xfrm>
            <a:off x="548640" y="914400"/>
            <a:ext cx="8046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9600"/>
              <a:buFont typeface="Trebuchet MS"/>
              <a:buNone/>
            </a:pPr>
            <a:r>
              <a:rPr b="1" lang="en-US" sz="9600">
                <a:solidFill>
                  <a:srgbClr val="FFFF00"/>
                </a:solidFill>
                <a:latin typeface="Poppins"/>
                <a:ea typeface="Poppins"/>
                <a:cs typeface="Poppins"/>
                <a:sym typeface="Poppins"/>
              </a:rPr>
              <a:t>rosado</a:t>
            </a:r>
            <a:endParaRPr i="0" sz="9600" u="none" cap="none" strike="noStrike">
              <a:solidFill>
                <a:srgbClr val="FFFF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FF4444"/>
                </a:solidFill>
                <a:latin typeface="Poppins"/>
                <a:ea typeface="Poppins"/>
                <a:cs typeface="Poppins"/>
                <a:sym typeface="Poppins"/>
              </a:rPr>
              <a:t>RONDA 3</a:t>
            </a:r>
            <a:endParaRPr i="0" sz="5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" name="Google Shape;265;p38"/>
          <p:cNvSpPr/>
          <p:nvPr/>
        </p:nvSpPr>
        <p:spPr>
          <a:xfrm>
            <a:off x="548640" y="20116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Ahora hay TRES tareas simultáneas: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p38"/>
          <p:cNvSpPr/>
          <p:nvPr/>
        </p:nvSpPr>
        <p:spPr>
          <a:xfrm>
            <a:off x="548640" y="265176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1. Digan el COLOR de la tinta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" name="Google Shape;267;p38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2. Si la PALABRA es un color cálido → APLAUDAN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8" name="Google Shape;268;p38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rPr>
              <a:t>(cálidos: rojo, amarillo, naranja)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" name="Google Shape;269;p38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3. Si la PALABRA es color frío → NO aplaudan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Digan el COLOR + Aplaudan si la palabra es color cálido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" name="Google Shape;276;p39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ROJO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" name="Google Shape;277;p39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(cálido = rojo, amarillo, naranja)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/>
          <p:nvPr/>
        </p:nvSpPr>
        <p:spPr>
          <a:xfrm>
            <a:off x="548640" y="182880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Digan el COLOR + Aplaudan si la palabra es color cálido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4" name="Google Shape;284;p40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AZUL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Digan el COLOR + Aplaudan si la palabra es color cálido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1" name="Google Shape;291;p41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00CC00"/>
                </a:solidFill>
                <a:latin typeface="Poppins"/>
                <a:ea typeface="Poppins"/>
                <a:cs typeface="Poppins"/>
                <a:sym typeface="Poppins"/>
              </a:rPr>
              <a:t>AMARILLO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2" name="Google Shape;292;p41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(cálido = rojo, amarillo, naranja)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2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Digan el COLOR + Aplaudan si la palabra es color cálido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9" name="Google Shape;299;p42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8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FF8800"/>
                </a:solidFill>
                <a:latin typeface="Poppins"/>
                <a:ea typeface="Poppins"/>
                <a:cs typeface="Poppins"/>
                <a:sym typeface="Poppins"/>
              </a:rPr>
              <a:t>VERDE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3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Digan el COLOR + Aplaudan si la palabra es color cálido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6" name="Google Shape;306;p43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NARANJA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p43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(cálido = rojo, amarillo, naranja)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4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Digan el COLOR + Aplaudan si la palabra es color cálido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4" name="Google Shape;314;p44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MORADO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5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¿Qué le acaba de pasar a su cerebro?</a:t>
            </a:r>
            <a:endParaRPr i="0" sz="2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" name="Google Shape;322;p45"/>
          <p:cNvSpPr/>
          <p:nvPr/>
        </p:nvSpPr>
        <p:spPr>
          <a:xfrm>
            <a:off x="548640" y="1005840"/>
            <a:ext cx="804672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3" name="Google Shape;323;p45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Ronda 1: 1 regla → relativamente fácil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4" name="Google Shape;324;p45"/>
          <p:cNvSpPr/>
          <p:nvPr/>
        </p:nvSpPr>
        <p:spPr>
          <a:xfrm>
            <a:off x="914400" y="1463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Ronda 2: 2 reglas simultáneas → mucho más difícil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5" name="Google Shape;325;p45"/>
          <p:cNvSpPr/>
          <p:nvPr/>
        </p:nvSpPr>
        <p:spPr>
          <a:xfrm>
            <a:off x="914400" y="1828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4444"/>
                </a:solidFill>
                <a:latin typeface="Poppins"/>
                <a:ea typeface="Poppins"/>
                <a:cs typeface="Poppins"/>
                <a:sym typeface="Poppins"/>
              </a:rPr>
              <a:t>Ronda 3: 3 tareas simultáneas → colapso cognitivo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6" name="Google Shape;326;p45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Esto es exactamente lo que le pedimos a un niño de 8 años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cuando le exigimos que atienda, copie, escuche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y se porte bien al mismo tiempo.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45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El autocontrol en la infancia predice la salud, las finanzas y el bienestar en la adultez.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45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i="1" lang="en-US" sz="900" u="none" cap="none" strike="noStrike">
                <a:solidFill>
                  <a:srgbClr val="AAAAAA"/>
                </a:solidFill>
                <a:latin typeface="Poppins"/>
                <a:ea typeface="Poppins"/>
                <a:cs typeface="Poppins"/>
                <a:sym typeface="Poppins"/>
              </a:rPr>
              <a:t>Diamond, A. (2013) | Moffitt, T. et al. (2011), PNAS</a:t>
            </a:r>
            <a:endParaRPr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7C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6"/>
          <p:cNvSpPr/>
          <p:nvPr/>
        </p:nvSpPr>
        <p:spPr>
          <a:xfrm>
            <a:off x="731520" y="457200"/>
            <a:ext cx="7680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 que acaban de experimentar</a:t>
            </a:r>
            <a:endParaRPr i="0" sz="3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exactamente</a:t>
            </a:r>
            <a:endParaRPr i="0" sz="3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 que entrenamos.</a:t>
            </a:r>
            <a:endParaRPr i="0" sz="3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7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¿Qué es el Gimnasio del Cerebro?</a:t>
            </a:r>
            <a:endParaRPr i="0" sz="2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2" name="Google Shape;342;p47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Un centro de entrenamiento cognitivo para niños, familias y colegios.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3" name="Google Shape;343;p47"/>
          <p:cNvSpPr/>
          <p:nvPr/>
        </p:nvSpPr>
        <p:spPr>
          <a:xfrm>
            <a:off x="548640" y="1737360"/>
            <a:ext cx="2468880" cy="182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4" name="Google Shape;344;p47"/>
          <p:cNvSpPr/>
          <p:nvPr/>
        </p:nvSpPr>
        <p:spPr>
          <a:xfrm>
            <a:off x="548640" y="1737360"/>
            <a:ext cx="246888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" name="Google Shape;345;p47"/>
          <p:cNvSpPr/>
          <p:nvPr/>
        </p:nvSpPr>
        <p:spPr>
          <a:xfrm>
            <a:off x="731520" y="192024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Desarrollo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Cognitivo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6" name="Google Shape;346;p47"/>
          <p:cNvSpPr/>
          <p:nvPr/>
        </p:nvSpPr>
        <p:spPr>
          <a:xfrm>
            <a:off x="731520" y="2468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Memoria de trabajo, atención, control inhibitorio, flexibilidad, planificación</a:t>
            </a:r>
            <a:endParaRPr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7" name="Google Shape;347;p47"/>
          <p:cNvSpPr/>
          <p:nvPr/>
        </p:nvSpPr>
        <p:spPr>
          <a:xfrm>
            <a:off x="3337560" y="1737360"/>
            <a:ext cx="2468880" cy="182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8" name="Google Shape;348;p47"/>
          <p:cNvSpPr/>
          <p:nvPr/>
        </p:nvSpPr>
        <p:spPr>
          <a:xfrm>
            <a:off x="3337560" y="1737360"/>
            <a:ext cx="2468880" cy="54864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9" name="Google Shape;349;p47"/>
          <p:cNvSpPr/>
          <p:nvPr/>
        </p:nvSpPr>
        <p:spPr>
          <a:xfrm>
            <a:off x="3520440" y="192024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Habilidades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Lingüísticas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0" name="Google Shape;350;p47"/>
          <p:cNvSpPr/>
          <p:nvPr/>
        </p:nvSpPr>
        <p:spPr>
          <a:xfrm>
            <a:off x="3520440" y="2468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Inglés como herramienta cognitiva: comprensión, expresión, argumentación</a:t>
            </a:r>
            <a:endParaRPr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1" name="Google Shape;351;p47"/>
          <p:cNvSpPr/>
          <p:nvPr/>
        </p:nvSpPr>
        <p:spPr>
          <a:xfrm>
            <a:off x="6126480" y="1737360"/>
            <a:ext cx="2468880" cy="182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2" name="Google Shape;352;p47"/>
          <p:cNvSpPr/>
          <p:nvPr/>
        </p:nvSpPr>
        <p:spPr>
          <a:xfrm>
            <a:off x="6126480" y="1737360"/>
            <a:ext cx="2468880" cy="54864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3" name="Google Shape;353;p47"/>
          <p:cNvSpPr/>
          <p:nvPr/>
        </p:nvSpPr>
        <p:spPr>
          <a:xfrm>
            <a:off x="6309360" y="192024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Inteligencia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Emocional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4" name="Google Shape;354;p47"/>
          <p:cNvSpPr/>
          <p:nvPr/>
        </p:nvSpPr>
        <p:spPr>
          <a:xfrm>
            <a:off x="6309360" y="2468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Autorregulación, empatía, habilidades sociales, autoconciencia, motivación</a:t>
            </a:r>
            <a:endParaRPr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5" name="Google Shape;355;p47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No enseñamos contenido. Entrenamos cerebros.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6" name="Google Shape;356;p47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rPr>
              <a:t>Más de 600 sesiones diseñadas con base en neurociencia aplicada</a:t>
            </a:r>
            <a:endParaRPr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8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No reemplazamos lo que ustedes hacen</a:t>
            </a:r>
            <a:endParaRPr i="0" sz="2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4" name="Google Shape;364;p48"/>
          <p:cNvSpPr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Lo potenciamos.</a:t>
            </a:r>
            <a:endParaRPr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5" name="Google Shape;365;p48"/>
          <p:cNvSpPr/>
          <p:nvPr/>
        </p:nvSpPr>
        <p:spPr>
          <a:xfrm>
            <a:off x="548640" y="1645920"/>
            <a:ext cx="804672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" name="Google Shape;366;p48"/>
          <p:cNvSpPr/>
          <p:nvPr/>
        </p:nvSpPr>
        <p:spPr>
          <a:xfrm>
            <a:off x="548640" y="19202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Lo que Divino Niño ya hace bien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7" name="Google Shape;367;p48"/>
          <p:cNvSpPr/>
          <p:nvPr/>
        </p:nvSpPr>
        <p:spPr>
          <a:xfrm>
            <a:off x="4754880" y="19202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Cómo lo potenciamos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8" name="Google Shape;368;p48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9" name="Google Shape;369;p48"/>
          <p:cNvSpPr/>
          <p:nvPr/>
        </p:nvSpPr>
        <p:spPr>
          <a:xfrm>
            <a:off x="731520" y="23774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Formación en valores y ética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0" name="Google Shape;370;p48"/>
          <p:cNvSpPr/>
          <p:nvPr/>
        </p:nvSpPr>
        <p:spPr>
          <a:xfrm>
            <a:off x="4937760" y="23774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Inteligencia emocional con base neurocientífica: autorregulación medible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1" name="Google Shape;371;p48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2" name="Google Shape;372;p48"/>
          <p:cNvSpPr/>
          <p:nvPr/>
        </p:nvSpPr>
        <p:spPr>
          <a:xfrm>
            <a:off x="731520" y="28346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Proyecto de bilingüismo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3" name="Google Shape;373;p48"/>
          <p:cNvSpPr/>
          <p:nvPr/>
        </p:nvSpPr>
        <p:spPr>
          <a:xfrm>
            <a:off x="4937760" y="28346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Inglés como ejercicio cognitivo: entrena el cerebro, no solo el idioma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4" name="Google Shape;374;p48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p48"/>
          <p:cNvSpPr/>
          <p:nvPr/>
        </p:nvSpPr>
        <p:spPr>
          <a:xfrm>
            <a:off x="731520" y="32918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Inclusión educativa (37+ años)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6" name="Google Shape;376;p48"/>
          <p:cNvSpPr/>
          <p:nvPr/>
        </p:nvSpPr>
        <p:spPr>
          <a:xfrm>
            <a:off x="4937760" y="32918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Entrenamiento cognitivo adaptado a perfiles diversos y neurodivergentes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7" name="Google Shape;377;p48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8" name="Google Shape;378;p48"/>
          <p:cNvSpPr/>
          <p:nvPr/>
        </p:nvSpPr>
        <p:spPr>
          <a:xfrm>
            <a:off x="731520" y="37490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Excelencia académica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9" name="Google Shape;379;p48"/>
          <p:cNvSpPr/>
          <p:nvPr/>
        </p:nvSpPr>
        <p:spPr>
          <a:xfrm>
            <a:off x="4937760" y="37490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Funciones ejecutivas que potencian TODAS las materias desde la raíz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9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Su proyecto de bilingüismo, potenciado</a:t>
            </a:r>
            <a:endParaRPr i="0" sz="2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7" name="Google Shape;387;p49"/>
          <p:cNvSpPr/>
          <p:nvPr/>
        </p:nvSpPr>
        <p:spPr>
          <a:xfrm>
            <a:off x="548640" y="1097280"/>
            <a:ext cx="3840480" cy="2743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8" name="Google Shape;388;p49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Enfoque tradicional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9" name="Google Shape;389;p49"/>
          <p:cNvSpPr/>
          <p:nvPr/>
        </p:nvSpPr>
        <p:spPr>
          <a:xfrm>
            <a:off x="731520" y="1645920"/>
            <a:ext cx="3474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Inglés como materia: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Gramática, vocabulario, exámenes.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El estudiante estudia inglés.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Resultado: conoce el idioma pero no lo usa con fluidez.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0" name="Google Shape;390;p49"/>
          <p:cNvSpPr/>
          <p:nvPr/>
        </p:nvSpPr>
        <p:spPr>
          <a:xfrm>
            <a:off x="4754880" y="1097280"/>
            <a:ext cx="3840480" cy="2743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1" name="Google Shape;391;p49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2" name="Google Shape;392;p49"/>
          <p:cNvSpPr/>
          <p:nvPr/>
        </p:nvSpPr>
        <p:spPr>
          <a:xfrm>
            <a:off x="4937760" y="11887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Nuestro enfoque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3" name="Google Shape;393;p49"/>
          <p:cNvSpPr/>
          <p:nvPr/>
        </p:nvSpPr>
        <p:spPr>
          <a:xfrm>
            <a:off x="4937760" y="1645920"/>
            <a:ext cx="3474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Inglés como herramienta cognitiva: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El cerebro TRABAJA en inglés.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El estudiante entrena cognición mientras adquiere el idioma.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Resultado: usa el idioma mientras entrena atención, memoria y flexibilidad.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4" name="Google Shape;394;p49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i="1" lang="en-US" sz="900" u="none" cap="none" strike="noStrike">
                <a:solidFill>
                  <a:srgbClr val="AAAAAA"/>
                </a:solidFill>
                <a:latin typeface="Poppins"/>
                <a:ea typeface="Poppins"/>
                <a:cs typeface="Poppins"/>
                <a:sym typeface="Poppins"/>
              </a:rPr>
              <a:t>Aprender y usar otro idioma exige atención, memoria de trabajo y flexibilidad: por eso lo usamos como ejercicio cognitivo.</a:t>
            </a:r>
            <a:endParaRPr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Su vocación de inclusión, con neurociencia</a:t>
            </a:r>
            <a:endParaRPr i="0" sz="2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2" name="Google Shape;402;p50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El Divino Niño ha sido pionero en inclusión educativa en Rionegro por más de 37 años.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3" name="Google Shape;403;p50"/>
          <p:cNvSpPr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4" name="Google Shape;404;p50"/>
          <p:cNvSpPr/>
          <p:nvPr/>
        </p:nvSpPr>
        <p:spPr>
          <a:xfrm>
            <a:off x="731520" y="19202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Aportamos herramientas basadas en evidencia: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5" name="Google Shape;405;p50"/>
          <p:cNvSpPr/>
          <p:nvPr/>
        </p:nvSpPr>
        <p:spPr>
          <a:xfrm>
            <a:off x="731520" y="2286000"/>
            <a:ext cx="7680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Evaluación cognitiva individual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que identifica fortalezas y áreas de trabajo específicas, no etiquetas.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Entrenamiento adaptado por perfil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Las sesiones se ajustan al nivel real de cada estudiante.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Datos para docentes y familias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Reportes de progreso cognitivo cada 8 semanas — evidencia medible, no percepción.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6" name="Google Shape;406;p50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Cada cerebro es diferente. Entrenamos el cerebro que cada niño tiene, no el que "debería" tener.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Valores + Inteligencia Emocional</a:t>
            </a:r>
            <a:endParaRPr i="0" sz="2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4" name="Google Shape;414;p51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i="0" lang="en-US" sz="1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Ustedes forman en valores cristianos: amor, respeto, solidaridad.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i="0" lang="en-US" sz="1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Les damos la base neurocientífica para que esos valores se practiquen, no solo se prediquen.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5" name="Google Shape;415;p51"/>
          <p:cNvSpPr/>
          <p:nvPr/>
        </p:nvSpPr>
        <p:spPr>
          <a:xfrm>
            <a:off x="548640" y="1920240"/>
            <a:ext cx="384048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6" name="Google Shape;416;p51"/>
          <p:cNvSpPr/>
          <p:nvPr/>
        </p:nvSpPr>
        <p:spPr>
          <a:xfrm>
            <a:off x="731520" y="20116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Valor: Respeto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7" name="Google Shape;417;p51"/>
          <p:cNvSpPr/>
          <p:nvPr/>
        </p:nvSpPr>
        <p:spPr>
          <a:xfrm>
            <a:off x="731520" y="2377440"/>
            <a:ext cx="3474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Habilidad cognitiva: Control inhibitorio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El niño aprende a FRENAR la respuesta impulsiva antes de actuar. No es solo "saber" que debe respetar — es tener la capacidad cerebral de hacerlo en el momento.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8" name="Google Shape;418;p51"/>
          <p:cNvSpPr/>
          <p:nvPr/>
        </p:nvSpPr>
        <p:spPr>
          <a:xfrm>
            <a:off x="4754880" y="1920240"/>
            <a:ext cx="384048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9" name="Google Shape;419;p51"/>
          <p:cNvSpPr/>
          <p:nvPr/>
        </p:nvSpPr>
        <p:spPr>
          <a:xfrm>
            <a:off x="4937760" y="20116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Valor: Solidaridad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0" name="Google Shape;420;p51"/>
          <p:cNvSpPr/>
          <p:nvPr/>
        </p:nvSpPr>
        <p:spPr>
          <a:xfrm>
            <a:off x="4937760" y="2377440"/>
            <a:ext cx="3474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Habilidad cognitiva: Empatía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La empatía no es solo sentimiento: también es una habilidad. La toma de perspectiva se puede practicar para que la solidaridad sea natural, no forzada.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1" name="Google Shape;421;p51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Los valores se enseñan en el aula. La capacidad de vivirlos se entrena en el Gimnasio del Cerebro.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5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¿Cómo funciona?</a:t>
            </a:r>
            <a:endParaRPr i="0" sz="2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9" name="Google Shape;429;p5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Programa por bloques de 8 semanas — 3 sesiones semanales de 55 minutos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0" name="Google Shape;430;p52"/>
          <p:cNvSpPr/>
          <p:nvPr/>
        </p:nvSpPr>
        <p:spPr>
          <a:xfrm>
            <a:off x="548640" y="1554480"/>
            <a:ext cx="146304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1" name="Google Shape;431;p52"/>
          <p:cNvSpPr/>
          <p:nvPr/>
        </p:nvSpPr>
        <p:spPr>
          <a:xfrm>
            <a:off x="548640" y="1554480"/>
            <a:ext cx="146304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2" name="Google Shape;432;p52"/>
          <p:cNvSpPr/>
          <p:nvPr/>
        </p:nvSpPr>
        <p:spPr>
          <a:xfrm>
            <a:off x="640080" y="173736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Evaluación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Cognitiva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3" name="Google Shape;433;p52"/>
          <p:cNvSpPr/>
          <p:nvPr/>
        </p:nvSpPr>
        <p:spPr>
          <a:xfrm>
            <a:off x="640080" y="2286000"/>
            <a:ext cx="1280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Diagnóstico de línea base: dónde está cada estudiante en funciones ejecutivas, lenguaje y regulación emocional.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4" name="Google Shape;434;p52"/>
          <p:cNvSpPr/>
          <p:nvPr/>
        </p:nvSpPr>
        <p:spPr>
          <a:xfrm>
            <a:off x="2286000" y="1554480"/>
            <a:ext cx="146304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5" name="Google Shape;435;p52"/>
          <p:cNvSpPr/>
          <p:nvPr/>
        </p:nvSpPr>
        <p:spPr>
          <a:xfrm>
            <a:off x="2286000" y="1554480"/>
            <a:ext cx="1463040" cy="54864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6" name="Google Shape;436;p52"/>
          <p:cNvSpPr/>
          <p:nvPr/>
        </p:nvSpPr>
        <p:spPr>
          <a:xfrm>
            <a:off x="2377440" y="173736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Bloque de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Entrenamiento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7" name="Google Shape;437;p52"/>
          <p:cNvSpPr/>
          <p:nvPr/>
        </p:nvSpPr>
        <p:spPr>
          <a:xfrm>
            <a:off x="2377440" y="2286000"/>
            <a:ext cx="1280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8 semanas con una competencia estrella (70%) + 4 secundarias. Sesiones gamificadas, cero sillas, puro movimiento.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8" name="Google Shape;438;p52"/>
          <p:cNvSpPr/>
          <p:nvPr/>
        </p:nvSpPr>
        <p:spPr>
          <a:xfrm>
            <a:off x="4023360" y="1554480"/>
            <a:ext cx="146304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9" name="Google Shape;439;p52"/>
          <p:cNvSpPr/>
          <p:nvPr/>
        </p:nvSpPr>
        <p:spPr>
          <a:xfrm>
            <a:off x="4023360" y="1554480"/>
            <a:ext cx="1463040" cy="54864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0" name="Google Shape;440;p52"/>
          <p:cNvSpPr/>
          <p:nvPr/>
        </p:nvSpPr>
        <p:spPr>
          <a:xfrm>
            <a:off x="4114800" y="173736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Reporte de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Progreso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1" name="Google Shape;441;p52"/>
          <p:cNvSpPr/>
          <p:nvPr/>
        </p:nvSpPr>
        <p:spPr>
          <a:xfrm>
            <a:off x="4114800" y="2286000"/>
            <a:ext cx="1280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Seguimiento cada 8 semanas: evidencia para docentes, familias e institución.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2" name="Google Shape;442;p52"/>
          <p:cNvSpPr/>
          <p:nvPr/>
        </p:nvSpPr>
        <p:spPr>
          <a:xfrm>
            <a:off x="5760720" y="1554480"/>
            <a:ext cx="146304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3" name="Google Shape;443;p52"/>
          <p:cNvSpPr/>
          <p:nvPr/>
        </p:nvSpPr>
        <p:spPr>
          <a:xfrm>
            <a:off x="5760720" y="1554480"/>
            <a:ext cx="1463040" cy="54864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4" name="Google Shape;444;p52"/>
          <p:cNvSpPr/>
          <p:nvPr/>
        </p:nvSpPr>
        <p:spPr>
          <a:xfrm>
            <a:off x="5852160" y="173736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Co-entrena-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miento Familiar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5" name="Google Shape;445;p52"/>
          <p:cNvSpPr/>
          <p:nvPr/>
        </p:nvSpPr>
        <p:spPr>
          <a:xfrm>
            <a:off x="5852160" y="2286000"/>
            <a:ext cx="1280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Padres participan del proceso. Actividades para casa. El entrenamiento no termina en la sesión.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6" name="Google Shape;446;p52"/>
          <p:cNvSpPr/>
          <p:nvPr/>
        </p:nvSpPr>
        <p:spPr>
          <a:xfrm>
            <a:off x="7498080" y="1554480"/>
            <a:ext cx="109728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7" name="Google Shape;447;p52"/>
          <p:cNvSpPr/>
          <p:nvPr/>
        </p:nvSpPr>
        <p:spPr>
          <a:xfrm>
            <a:off x="7498080" y="1554480"/>
            <a:ext cx="1097280" cy="54864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" name="Google Shape;448;p52"/>
          <p:cNvSpPr/>
          <p:nvPr/>
        </p:nvSpPr>
        <p:spPr>
          <a:xfrm>
            <a:off x="7589520" y="173736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4444"/>
                </a:solidFill>
                <a:latin typeface="Poppins"/>
                <a:ea typeface="Poppins"/>
                <a:cs typeface="Poppins"/>
                <a:sym typeface="Poppins"/>
              </a:rPr>
              <a:t>Siguiente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4444"/>
                </a:solidFill>
                <a:latin typeface="Poppins"/>
                <a:ea typeface="Poppins"/>
                <a:cs typeface="Poppins"/>
                <a:sym typeface="Poppins"/>
              </a:rPr>
              <a:t>Bloque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9" name="Google Shape;449;p52"/>
          <p:cNvSpPr/>
          <p:nvPr/>
        </p:nvSpPr>
        <p:spPr>
          <a:xfrm>
            <a:off x="7589520" y="2286000"/>
            <a:ext cx="914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Progresión continua. 5 bloques = 40 semanas de entrenamiento integral.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0" name="Google Shape;450;p52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Todo empieza con un taller docente gratuito: su equipo vive el método antes de decidir.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53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Modelo de alianza</a:t>
            </a:r>
            <a:endParaRPr i="0" sz="2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8" name="Google Shape;458;p53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Nos integramos a su propuesta educativa, no la reemplazamos.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9" name="Google Shape;459;p53"/>
          <p:cNvSpPr/>
          <p:nvPr/>
        </p:nvSpPr>
        <p:spPr>
          <a:xfrm>
            <a:off x="548640" y="1645920"/>
            <a:ext cx="8046720" cy="2377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0" name="Google Shape;460;p53"/>
          <p:cNvSpPr/>
          <p:nvPr/>
        </p:nvSpPr>
        <p:spPr>
          <a:xfrm>
            <a:off x="731520" y="1737360"/>
            <a:ext cx="76809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Opción 1: Programa extracurricular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Ofrecemos sesiones en horario alterno para familias del colegio con tarifa preferencial.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Opción 2: Programa integrado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Sesiones de entrenamiento cognitivo dentro de la jornada escolar como complemento al currículo.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Opción 3: Capacitación docente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Formación al equipo pedagógico en neurociencia aplicada al aula para potenciar su práctica.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1" name="Google Shape;461;p53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Podemos combinar opciones. Lo diseñamos juntos según sus necesidades.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54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Siguiente paso</a:t>
            </a:r>
            <a:endParaRPr i="0" sz="2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9" name="Google Shape;469;p54"/>
          <p:cNvSpPr/>
          <p:nvPr/>
        </p:nvSpPr>
        <p:spPr>
          <a:xfrm>
            <a:off x="1371600" y="1188720"/>
            <a:ext cx="640080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0" name="Google Shape;470;p54"/>
          <p:cNvSpPr/>
          <p:nvPr/>
        </p:nvSpPr>
        <p:spPr>
          <a:xfrm>
            <a:off x="1554480" y="137160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Taller docente gratuito</a:t>
            </a:r>
            <a:endParaRPr i="0" sz="2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1" name="Google Shape;471;p54"/>
          <p:cNvSpPr/>
          <p:nvPr/>
        </p:nvSpPr>
        <p:spPr>
          <a:xfrm>
            <a:off x="1554480" y="182880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para su equipo pedagógico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2" name="Google Shape;472;p54"/>
          <p:cNvSpPr/>
          <p:nvPr/>
        </p:nvSpPr>
        <p:spPr>
          <a:xfrm>
            <a:off x="3200400" y="2286000"/>
            <a:ext cx="2743200" cy="36576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3" name="Google Shape;473;p54"/>
          <p:cNvSpPr/>
          <p:nvPr/>
        </p:nvSpPr>
        <p:spPr>
          <a:xfrm>
            <a:off x="1737360" y="2468880"/>
            <a:ext cx="5669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Su equipo docente vive el método en un taller experiencial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Se lleva estrategias para su próxima clase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Les presentamos la ruta de acompañamiento en el aula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Ustedes deciden si quieren avanzar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4" name="Google Shape;474;p54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Sin costo. Sin compromiso.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5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44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Gimnasio del Cerebro</a:t>
            </a:r>
            <a:endParaRPr i="0" sz="4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2" name="Google Shape;482;p55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Neurociencia aplicada para colegios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3" name="Google Shape;483;p55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800"/>
              <a:buFont typeface="Calibri"/>
              <a:buNone/>
            </a:pPr>
            <a:r>
              <a:rPr i="1" lang="en-US" sz="18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"Formando líderes en valores para la excelencia.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800"/>
              <a:buFont typeface="Calibri"/>
              <a:buNone/>
            </a:pPr>
            <a:r>
              <a:rPr i="1" lang="en-US" sz="18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Entrenando los cerebros que harán posible esa excelencia."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4" name="Google Shape;484;p55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5" name="Google Shape;485;p55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Camilo Espinosa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6" name="Google Shape;486;p55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rPr>
              <a:t>Fundador y Director, Gimnasio del Cerebro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7" name="Google Shape;487;p55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rPr>
              <a:t>301 491 6120  |  Rionegro, Antioquia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